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6"/>
    <p:restoredTop sz="94668"/>
  </p:normalViewPr>
  <p:slideViewPr>
    <p:cSldViewPr snapToGrid="0" snapToObjects="1">
      <p:cViewPr varScale="1">
        <p:scale>
          <a:sx n="81" d="100"/>
          <a:sy n="81" d="100"/>
        </p:scale>
        <p:origin x="200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19FB2-3AAB-4D03-B13A-2960828C78E3}" type="datetimeFigureOut">
              <a:rPr lang="en-US" dirty="0"/>
              <a:t>8/8/17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6976-5D93-46E4-A98A-FAD63E4D0EA8}" type="datetimeFigureOut">
              <a:rPr lang="en-US" dirty="0"/>
              <a:t>8/8/17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9F4F5-F4D2-4D2A-AB60-88D37ADCB869}" type="datetimeFigureOut">
              <a:rPr lang="en-US" dirty="0"/>
              <a:t>8/8/17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BC6CE-6D1E-47E5-8859-F31AC5380EB2}" type="datetimeFigureOut">
              <a:rPr lang="en-US" dirty="0"/>
              <a:t>8/8/17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4E7C4-4DA4-404D-9965-B13F2DD7D8BF}" type="datetimeFigureOut">
              <a:rPr lang="en-US" dirty="0"/>
              <a:t>8/8/17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FB7AA-4A53-424F-AD41-70827B6504BA}" type="datetimeFigureOut">
              <a:rPr lang="en-US" dirty="0"/>
              <a:t>8/8/17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84882-FB12-4BC8-9960-9AD8104D7FAE}" type="datetimeFigureOut">
              <a:rPr lang="en-US" dirty="0"/>
              <a:t>8/8/17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1BD23-6E54-4D9D-AD88-A2813C73CC25}" type="datetimeFigureOut">
              <a:rPr lang="en-US" dirty="0"/>
              <a:t>8/8/17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1A834-4F3C-4AF9-9C74-05EC35A0F292}" type="datetimeFigureOut">
              <a:rPr lang="en-US" dirty="0"/>
              <a:t>8/8/17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C674-7DFC-42FE-B9CD-82963CDB1557}" type="datetimeFigureOut">
              <a:rPr lang="en-US" dirty="0"/>
              <a:t>8/8/17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6456F-F47D-4F25-8053-2A695DA0CA7D}" type="datetimeFigureOut">
              <a:rPr lang="en-US" dirty="0"/>
              <a:t>8/8/17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C7379-69CC-4837-9905-BEBA22830C8A}" type="datetimeFigureOut">
              <a:rPr lang="en-US" dirty="0"/>
              <a:t>8/8/17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B8B7E-8AEE-4F10-BFEE-C999AD004D36}" type="datetimeFigureOut">
              <a:rPr lang="en-US" dirty="0"/>
              <a:t>8/8/17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F3F9-58BC-440B-B37B-805B9055EF92}" type="datetimeFigureOut">
              <a:rPr lang="en-US" dirty="0"/>
              <a:t>8/8/17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A53AF-48EA-489D-8260-9DCAB666386A}" type="datetimeFigureOut">
              <a:rPr lang="en-US" dirty="0"/>
              <a:t>8/8/17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D02AE-B9A4-47BD-AF8E-97E16144138B}" type="datetimeFigureOut">
              <a:rPr lang="en-US" dirty="0"/>
              <a:t>8/8/17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78B-DB02-4362-BCDC-98A55456977C}" type="datetimeFigureOut">
              <a:rPr lang="en-US" dirty="0"/>
              <a:t>8/8/17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1CF1133-3259-4C45-BABA-5B62D9C6F78D}" type="datetimeFigureOut">
              <a:rPr lang="en-US" dirty="0"/>
              <a:t>8/8/17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Optimism from Tweets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Causal Explanation Rating (</a:t>
            </a:r>
            <a:r>
              <a:rPr lang="en-US" dirty="0" err="1" smtClean="0"/>
              <a:t>Globality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72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Causal Explanation?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Explanation of why an event happened to an author and how it affects the her.</a:t>
            </a:r>
            <a:endParaRPr lang="ko-KR" altLang="en-US" dirty="0" smtClean="0"/>
          </a:p>
          <a:p>
            <a:pPr marL="0" indent="0">
              <a:buNone/>
            </a:pPr>
            <a:r>
              <a:rPr lang="en-US" dirty="0"/>
              <a:t>Ex) I failed a test, </a:t>
            </a:r>
            <a:r>
              <a:rPr lang="en-US" u="sng" dirty="0"/>
              <a:t>because I did not study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I lost a game </a:t>
            </a:r>
            <a:r>
              <a:rPr lang="en-US" u="sng" dirty="0"/>
              <a:t>because of a lack of practice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I failed a class, </a:t>
            </a:r>
            <a:r>
              <a:rPr lang="en-US" u="sng" dirty="0"/>
              <a:t>I will fail all classes and get a job</a:t>
            </a:r>
            <a:r>
              <a:rPr lang="en-US" dirty="0"/>
              <a:t>.</a:t>
            </a:r>
            <a:endParaRPr lang="ko-KR" altLang="en-US" dirty="0"/>
          </a:p>
          <a:p>
            <a:pPr marL="0" indent="0">
              <a:buNone/>
            </a:pPr>
            <a:endParaRPr lang="ko-KR" altLang="en-US" dirty="0"/>
          </a:p>
          <a:p>
            <a:r>
              <a:rPr lang="en-US" dirty="0" smtClean="0"/>
              <a:t>In this task, you </a:t>
            </a:r>
            <a:r>
              <a:rPr lang="en-US" dirty="0" smtClean="0"/>
              <a:t>will</a:t>
            </a:r>
            <a:r>
              <a:rPr lang="ko-KR" altLang="en-US" dirty="0" smtClean="0"/>
              <a:t> </a:t>
            </a:r>
            <a:r>
              <a:rPr lang="en-US" altLang="ko-KR" dirty="0" smtClean="0"/>
              <a:t>be asked to</a:t>
            </a:r>
            <a:r>
              <a:rPr lang="en-US" dirty="0" smtClean="0"/>
              <a:t> </a:t>
            </a:r>
            <a:r>
              <a:rPr lang="en-US" dirty="0" smtClean="0"/>
              <a:t>rate a given causal explanation based on ‘</a:t>
            </a:r>
            <a:r>
              <a:rPr lang="en-US" dirty="0" err="1" smtClean="0"/>
              <a:t>Globality</a:t>
            </a:r>
            <a:r>
              <a:rPr lang="en-US" dirty="0" smtClean="0"/>
              <a:t>’.</a:t>
            </a:r>
          </a:p>
        </p:txBody>
      </p:sp>
    </p:spTree>
    <p:extLst>
      <p:ext uri="{BB962C8B-B14F-4D97-AF65-F5344CB8AC3E}">
        <p14:creationId xmlns:p14="http://schemas.microsoft.com/office/powerpoint/2010/main" val="435427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</a:t>
            </a:r>
            <a:r>
              <a:rPr lang="en-US" dirty="0" err="1" smtClean="0"/>
              <a:t>Globality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how many situations or aspects, from none to all, does the speaker imply that the cause of the event affects her or him?</a:t>
            </a:r>
          </a:p>
          <a:p>
            <a:pPr marL="0" indent="0">
              <a:buNone/>
            </a:pPr>
            <a:r>
              <a:rPr lang="en-US" dirty="0" smtClean="0"/>
              <a:t>Ex) I failed a test, but only in this </a:t>
            </a:r>
            <a:r>
              <a:rPr lang="en-US" dirty="0" smtClean="0"/>
              <a:t>class</a:t>
            </a:r>
          </a:p>
          <a:p>
            <a:pPr marL="0" indent="0">
              <a:buNone/>
            </a:pPr>
            <a:r>
              <a:rPr lang="en-US" dirty="0" smtClean="0"/>
              <a:t>=&gt;  In this case, causal explanation (but only in this class) can be rated around -3 or -2, because the author does not think his failure on the test would affect anything other than that specific class</a:t>
            </a:r>
            <a:endParaRPr lang="en-US" dirty="0" smtClean="0"/>
          </a:p>
          <a:p>
            <a:r>
              <a:rPr lang="en-US" dirty="0" smtClean="0"/>
              <a:t>Scale: </a:t>
            </a: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1698442" y="5234014"/>
            <a:ext cx="8386234" cy="12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1698442" y="5119714"/>
            <a:ext cx="4234" cy="254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3075632" y="5102781"/>
            <a:ext cx="4234" cy="254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4421991" y="5102781"/>
            <a:ext cx="4234" cy="254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5797064" y="5102781"/>
            <a:ext cx="4234" cy="254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7176372" y="5107014"/>
            <a:ext cx="4234" cy="254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8624173" y="5107014"/>
            <a:ext cx="4234" cy="254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10091023" y="5113364"/>
            <a:ext cx="4234" cy="254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502240" y="5323985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Calibri" charset="0"/>
                <a:ea typeface="Calibri" charset="0"/>
                <a:cs typeface="Calibri" charset="0"/>
              </a:rPr>
              <a:t>-3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873079" y="5299115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Calibri" charset="0"/>
                <a:ea typeface="Calibri" charset="0"/>
                <a:cs typeface="Calibri" charset="0"/>
              </a:rPr>
              <a:t>-2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210990" y="5299115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Calibri" charset="0"/>
                <a:ea typeface="Calibri" charset="0"/>
                <a:cs typeface="Calibri" charset="0"/>
              </a:rPr>
              <a:t>-1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56596" y="52864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7646" y="52864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alibri" charset="0"/>
                <a:ea typeface="Calibri" charset="0"/>
                <a:cs typeface="Calibri" charset="0"/>
              </a:rPr>
              <a:t>1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473330" y="52885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>
                <a:latin typeface="Calibri" charset="0"/>
                <a:ea typeface="Calibri" charset="0"/>
                <a:cs typeface="Calibri" charset="0"/>
              </a:rPr>
              <a:t>2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942297" y="52991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alibri" charset="0"/>
                <a:ea typeface="Calibri" charset="0"/>
                <a:cs typeface="Calibri" charset="0"/>
              </a:rPr>
              <a:t>3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396297" y="5530632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Calibri" charset="0"/>
                <a:ea typeface="Calibri" charset="0"/>
                <a:cs typeface="Calibri" charset="0"/>
              </a:rPr>
              <a:t>None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598385" y="5530632"/>
            <a:ext cx="1040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alibri" charset="0"/>
                <a:ea typeface="Calibri" charset="0"/>
                <a:cs typeface="Calibri" charset="0"/>
              </a:rPr>
              <a:t>Very Few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150273" y="5530632"/>
            <a:ext cx="566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alibri" charset="0"/>
                <a:ea typeface="Calibri" charset="0"/>
                <a:cs typeface="Calibri" charset="0"/>
              </a:rPr>
              <a:t>F</a:t>
            </a:r>
            <a:r>
              <a:rPr lang="en-US" altLang="ko-KR" dirty="0" smtClean="0">
                <a:latin typeface="Calibri" charset="0"/>
                <a:ea typeface="Calibri" charset="0"/>
                <a:cs typeface="Calibri" charset="0"/>
              </a:rPr>
              <a:t>ew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015324" y="5530632"/>
            <a:ext cx="15799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smtClean="0">
                <a:latin typeface="Calibri" charset="0"/>
                <a:ea typeface="Calibri" charset="0"/>
                <a:cs typeface="Calibri" charset="0"/>
              </a:rPr>
              <a:t>Moderately or </a:t>
            </a:r>
            <a:br>
              <a:rPr lang="en-US" altLang="ko-KR" dirty="0" smtClean="0">
                <a:latin typeface="Calibri" charset="0"/>
                <a:ea typeface="Calibri" charset="0"/>
                <a:cs typeface="Calibri" charset="0"/>
              </a:rPr>
            </a:br>
            <a:r>
              <a:rPr lang="en-US" altLang="ko-KR" dirty="0" smtClean="0">
                <a:latin typeface="Calibri" charset="0"/>
                <a:ea typeface="Calibri" charset="0"/>
                <a:cs typeface="Calibri" charset="0"/>
              </a:rPr>
              <a:t>Unclear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821735" y="5531949"/>
            <a:ext cx="714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alibri" charset="0"/>
                <a:ea typeface="Calibri" charset="0"/>
                <a:cs typeface="Calibri" charset="0"/>
              </a:rPr>
              <a:t>Many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109305" y="5530632"/>
            <a:ext cx="1188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Calibri" charset="0"/>
                <a:ea typeface="Calibri" charset="0"/>
                <a:cs typeface="Calibri" charset="0"/>
              </a:rPr>
              <a:t>Very Many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358980" y="5530632"/>
            <a:ext cx="1405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alibri" charset="0"/>
                <a:ea typeface="Calibri" charset="0"/>
                <a:cs typeface="Calibri" charset="0"/>
              </a:rPr>
              <a:t>All Situations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5375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Example of Causal Explanation Ratings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failed a test, but only in this class. 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I failed a test, I think I will fail all courses and I will fail to get a job</a:t>
            </a:r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 flipV="1">
            <a:off x="1646766" y="2992968"/>
            <a:ext cx="8386234" cy="12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H="1">
            <a:off x="1646766" y="2878668"/>
            <a:ext cx="4234" cy="254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H="1">
            <a:off x="3023956" y="2861735"/>
            <a:ext cx="4234" cy="254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>
            <a:off x="4370315" y="2861735"/>
            <a:ext cx="4234" cy="254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H="1">
            <a:off x="5745388" y="2861735"/>
            <a:ext cx="4234" cy="254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H="1">
            <a:off x="7124696" y="2865968"/>
            <a:ext cx="4234" cy="254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H="1">
            <a:off x="8572497" y="2865968"/>
            <a:ext cx="4234" cy="254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H="1">
            <a:off x="10039347" y="2872318"/>
            <a:ext cx="4234" cy="254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450564" y="308293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Calibri" charset="0"/>
                <a:ea typeface="Calibri" charset="0"/>
                <a:cs typeface="Calibri" charset="0"/>
              </a:rPr>
              <a:t>-3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821403" y="305806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Calibri" charset="0"/>
                <a:ea typeface="Calibri" charset="0"/>
                <a:cs typeface="Calibri" charset="0"/>
              </a:rPr>
              <a:t>-2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159314" y="305806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Calibri" charset="0"/>
                <a:ea typeface="Calibri" charset="0"/>
                <a:cs typeface="Calibri" charset="0"/>
              </a:rPr>
              <a:t>-1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604920" y="3045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75970" y="30453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alibri" charset="0"/>
                <a:ea typeface="Calibri" charset="0"/>
                <a:cs typeface="Calibri" charset="0"/>
              </a:rPr>
              <a:t>1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421654" y="30474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>
                <a:latin typeface="Calibri" charset="0"/>
                <a:ea typeface="Calibri" charset="0"/>
                <a:cs typeface="Calibri" charset="0"/>
              </a:rPr>
              <a:t>2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890621" y="30580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alibri" charset="0"/>
                <a:ea typeface="Calibri" charset="0"/>
                <a:cs typeface="Calibri" charset="0"/>
              </a:rPr>
              <a:t>3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344621" y="3289586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Calibri" charset="0"/>
                <a:ea typeface="Calibri" charset="0"/>
                <a:cs typeface="Calibri" charset="0"/>
              </a:rPr>
              <a:t>None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546709" y="3289586"/>
            <a:ext cx="1040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alibri" charset="0"/>
                <a:ea typeface="Calibri" charset="0"/>
                <a:cs typeface="Calibri" charset="0"/>
              </a:rPr>
              <a:t>Very Few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098597" y="3289586"/>
            <a:ext cx="566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alibri" charset="0"/>
                <a:ea typeface="Calibri" charset="0"/>
                <a:cs typeface="Calibri" charset="0"/>
              </a:rPr>
              <a:t>F</a:t>
            </a:r>
            <a:r>
              <a:rPr lang="en-US" altLang="ko-KR" dirty="0" smtClean="0">
                <a:latin typeface="Calibri" charset="0"/>
                <a:ea typeface="Calibri" charset="0"/>
                <a:cs typeface="Calibri" charset="0"/>
              </a:rPr>
              <a:t>ew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770059" y="3290903"/>
            <a:ext cx="714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alibri" charset="0"/>
                <a:ea typeface="Calibri" charset="0"/>
                <a:cs typeface="Calibri" charset="0"/>
              </a:rPr>
              <a:t>Many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057629" y="3289586"/>
            <a:ext cx="1188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Calibri" charset="0"/>
                <a:ea typeface="Calibri" charset="0"/>
                <a:cs typeface="Calibri" charset="0"/>
              </a:rPr>
              <a:t>Very Many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307304" y="3289586"/>
            <a:ext cx="1405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alibri" charset="0"/>
                <a:ea typeface="Calibri" charset="0"/>
                <a:cs typeface="Calibri" charset="0"/>
              </a:rPr>
              <a:t>All Situations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cxnSp>
        <p:nvCxnSpPr>
          <p:cNvPr id="56" name="Straight Connector 55"/>
          <p:cNvCxnSpPr/>
          <p:nvPr/>
        </p:nvCxnSpPr>
        <p:spPr>
          <a:xfrm flipV="1">
            <a:off x="1646766" y="5110179"/>
            <a:ext cx="8386234" cy="127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H="1">
            <a:off x="1646766" y="4995879"/>
            <a:ext cx="4234" cy="254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H="1">
            <a:off x="3023956" y="4978946"/>
            <a:ext cx="4234" cy="254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H="1">
            <a:off x="4370315" y="4978946"/>
            <a:ext cx="4234" cy="254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H="1">
            <a:off x="5745388" y="4978946"/>
            <a:ext cx="4234" cy="254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H="1">
            <a:off x="7124696" y="4983179"/>
            <a:ext cx="4234" cy="254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H="1">
            <a:off x="8572497" y="4983179"/>
            <a:ext cx="4234" cy="254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H="1">
            <a:off x="10039347" y="4989529"/>
            <a:ext cx="4234" cy="254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1450564" y="5200150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Calibri" charset="0"/>
                <a:ea typeface="Calibri" charset="0"/>
                <a:cs typeface="Calibri" charset="0"/>
              </a:rPr>
              <a:t>-3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2821403" y="5175280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Calibri" charset="0"/>
                <a:ea typeface="Calibri" charset="0"/>
                <a:cs typeface="Calibri" charset="0"/>
              </a:rPr>
              <a:t>-2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159314" y="5175280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Calibri" charset="0"/>
                <a:ea typeface="Calibri" charset="0"/>
                <a:cs typeface="Calibri" charset="0"/>
              </a:rPr>
              <a:t>-1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604920" y="5162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75970" y="51625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alibri" charset="0"/>
                <a:ea typeface="Calibri" charset="0"/>
                <a:cs typeface="Calibri" charset="0"/>
              </a:rPr>
              <a:t>1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8421654" y="5164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>
                <a:latin typeface="Calibri" charset="0"/>
                <a:ea typeface="Calibri" charset="0"/>
                <a:cs typeface="Calibri" charset="0"/>
              </a:rPr>
              <a:t>2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9890621" y="51752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alibri" charset="0"/>
                <a:ea typeface="Calibri" charset="0"/>
                <a:cs typeface="Calibri" charset="0"/>
              </a:rPr>
              <a:t>3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344621" y="5406797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Calibri" charset="0"/>
                <a:ea typeface="Calibri" charset="0"/>
                <a:cs typeface="Calibri" charset="0"/>
              </a:rPr>
              <a:t>None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546709" y="5406797"/>
            <a:ext cx="1040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alibri" charset="0"/>
                <a:ea typeface="Calibri" charset="0"/>
                <a:cs typeface="Calibri" charset="0"/>
              </a:rPr>
              <a:t>Very Few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098597" y="5406797"/>
            <a:ext cx="566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alibri" charset="0"/>
                <a:ea typeface="Calibri" charset="0"/>
                <a:cs typeface="Calibri" charset="0"/>
              </a:rPr>
              <a:t>F</a:t>
            </a:r>
            <a:r>
              <a:rPr lang="en-US" altLang="ko-KR" dirty="0" smtClean="0">
                <a:latin typeface="Calibri" charset="0"/>
                <a:ea typeface="Calibri" charset="0"/>
                <a:cs typeface="Calibri" charset="0"/>
              </a:rPr>
              <a:t>ew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770059" y="5408114"/>
            <a:ext cx="714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alibri" charset="0"/>
                <a:ea typeface="Calibri" charset="0"/>
                <a:cs typeface="Calibri" charset="0"/>
              </a:rPr>
              <a:t>Many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8057629" y="5406797"/>
            <a:ext cx="1188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latin typeface="Calibri" charset="0"/>
                <a:ea typeface="Calibri" charset="0"/>
                <a:cs typeface="Calibri" charset="0"/>
              </a:rPr>
              <a:t>Very Many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9307304" y="5406797"/>
            <a:ext cx="1405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>
                <a:latin typeface="Calibri" charset="0"/>
                <a:ea typeface="Calibri" charset="0"/>
                <a:cs typeface="Calibri" charset="0"/>
              </a:rPr>
              <a:t>All Situations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77" name="Down Arrow 76"/>
          <p:cNvSpPr/>
          <p:nvPr/>
        </p:nvSpPr>
        <p:spPr>
          <a:xfrm>
            <a:off x="1447151" y="2325735"/>
            <a:ext cx="372218" cy="492608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Down Arrow 77"/>
          <p:cNvSpPr/>
          <p:nvPr/>
        </p:nvSpPr>
        <p:spPr>
          <a:xfrm>
            <a:off x="9846891" y="4404046"/>
            <a:ext cx="372218" cy="492608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/>
          <p:cNvSpPr txBox="1"/>
          <p:nvPr/>
        </p:nvSpPr>
        <p:spPr>
          <a:xfrm>
            <a:off x="1819369" y="2401295"/>
            <a:ext cx="1379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Your Answer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10181578" y="4475179"/>
            <a:ext cx="1379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Your Answer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760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8627" y="2903374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Now</a:t>
            </a:r>
            <a:r>
              <a:rPr lang="en-US" smtClean="0"/>
              <a:t>, you </a:t>
            </a:r>
            <a:r>
              <a:rPr lang="en-US" dirty="0" smtClean="0"/>
              <a:t>are ready to take a </a:t>
            </a:r>
            <a:r>
              <a:rPr lang="en-US" smtClean="0"/>
              <a:t>qualification test</a:t>
            </a:r>
            <a:r>
              <a:rPr lang="en-US" dirty="0" smtClean="0"/>
              <a:t>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059525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Depth</Template>
  <TotalTime>2339</TotalTime>
  <Words>287</Words>
  <Application>Microsoft Macintosh PowerPoint</Application>
  <PresentationFormat>Widescreen</PresentationFormat>
  <Paragraphs>63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Corbel</vt:lpstr>
      <vt:lpstr>HY엽서L</vt:lpstr>
      <vt:lpstr>Arial</vt:lpstr>
      <vt:lpstr>Depth</vt:lpstr>
      <vt:lpstr>Optimism from Tweets</vt:lpstr>
      <vt:lpstr>What is a Causal Explanation?</vt:lpstr>
      <vt:lpstr>What is Globality?</vt:lpstr>
      <vt:lpstr>Example of Causal Explanation Ratings</vt:lpstr>
      <vt:lpstr>Now, you are ready to take a qualification test!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Optimism from Tweets</dc:title>
  <dc:creator>Youngseo  Son</dc:creator>
  <cp:lastModifiedBy>Youngseo  Son</cp:lastModifiedBy>
  <cp:revision>14</cp:revision>
  <dcterms:created xsi:type="dcterms:W3CDTF">2017-08-07T16:09:37Z</dcterms:created>
  <dcterms:modified xsi:type="dcterms:W3CDTF">2017-08-09T18:34:11Z</dcterms:modified>
</cp:coreProperties>
</file>